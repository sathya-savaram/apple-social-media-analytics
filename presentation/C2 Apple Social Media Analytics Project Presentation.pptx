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63" r:id="rId4"/>
    <p:sldId id="260" r:id="rId5"/>
    <p:sldId id="259" r:id="rId6"/>
    <p:sldId id="261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3" r:id="rId16"/>
    <p:sldId id="274" r:id="rId17"/>
    <p:sldId id="275" r:id="rId18"/>
    <p:sldId id="276" r:id="rId19"/>
    <p:sldId id="277" r:id="rId20"/>
    <p:sldId id="278" r:id="rId21"/>
    <p:sldId id="280" r:id="rId22"/>
    <p:sldId id="27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SATHYA DHEERAJ" userId="dd0125d5f9cdda49" providerId="LiveId" clId="{114B0791-7473-435B-97F5-4E60826204FA}"/>
    <pc:docChg chg="custSel modSld">
      <pc:chgData name="SAI SATHYA DHEERAJ" userId="dd0125d5f9cdda49" providerId="LiveId" clId="{114B0791-7473-435B-97F5-4E60826204FA}" dt="2025-12-03T13:03:58.891" v="209" actId="20577"/>
      <pc:docMkLst>
        <pc:docMk/>
      </pc:docMkLst>
      <pc:sldChg chg="modSp mod">
        <pc:chgData name="SAI SATHYA DHEERAJ" userId="dd0125d5f9cdda49" providerId="LiveId" clId="{114B0791-7473-435B-97F5-4E60826204FA}" dt="2025-12-03T09:14:06.318" v="199" actId="20577"/>
        <pc:sldMkLst>
          <pc:docMk/>
          <pc:sldMk cId="3905423190" sldId="261"/>
        </pc:sldMkLst>
        <pc:spChg chg="mod">
          <ac:chgData name="SAI SATHYA DHEERAJ" userId="dd0125d5f9cdda49" providerId="LiveId" clId="{114B0791-7473-435B-97F5-4E60826204FA}" dt="2025-12-03T06:48:39.566" v="53" actId="403"/>
          <ac:spMkLst>
            <pc:docMk/>
            <pc:sldMk cId="3905423190" sldId="261"/>
            <ac:spMk id="2" creationId="{948AC943-E48E-D66E-85DE-237DEEEC05AF}"/>
          </ac:spMkLst>
        </pc:spChg>
        <pc:spChg chg="mod">
          <ac:chgData name="SAI SATHYA DHEERAJ" userId="dd0125d5f9cdda49" providerId="LiveId" clId="{114B0791-7473-435B-97F5-4E60826204FA}" dt="2025-12-03T09:13:30.163" v="194" actId="20577"/>
          <ac:spMkLst>
            <pc:docMk/>
            <pc:sldMk cId="3905423190" sldId="261"/>
            <ac:spMk id="3" creationId="{7D5FBAC9-274B-16AA-0041-7EB2412D1511}"/>
          </ac:spMkLst>
        </pc:spChg>
        <pc:spChg chg="mod">
          <ac:chgData name="SAI SATHYA DHEERAJ" userId="dd0125d5f9cdda49" providerId="LiveId" clId="{114B0791-7473-435B-97F5-4E60826204FA}" dt="2025-12-03T09:14:06.318" v="199" actId="20577"/>
          <ac:spMkLst>
            <pc:docMk/>
            <pc:sldMk cId="3905423190" sldId="261"/>
            <ac:spMk id="8" creationId="{90B9D4E2-D26B-A561-EDF8-5139249768B1}"/>
          </ac:spMkLst>
        </pc:spChg>
      </pc:sldChg>
      <pc:sldChg chg="modSp mod">
        <pc:chgData name="SAI SATHYA DHEERAJ" userId="dd0125d5f9cdda49" providerId="LiveId" clId="{114B0791-7473-435B-97F5-4E60826204FA}" dt="2025-12-03T06:48:30.057" v="47" actId="403"/>
        <pc:sldMkLst>
          <pc:docMk/>
          <pc:sldMk cId="2489949649" sldId="263"/>
        </pc:sldMkLst>
        <pc:spChg chg="mod">
          <ac:chgData name="SAI SATHYA DHEERAJ" userId="dd0125d5f9cdda49" providerId="LiveId" clId="{114B0791-7473-435B-97F5-4E60826204FA}" dt="2025-12-03T06:48:30.057" v="47" actId="403"/>
          <ac:spMkLst>
            <pc:docMk/>
            <pc:sldMk cId="2489949649" sldId="263"/>
            <ac:spMk id="2" creationId="{DF85F07A-B89D-05C1-82E3-4D7EEE26FE08}"/>
          </ac:spMkLst>
        </pc:spChg>
      </pc:sldChg>
      <pc:sldChg chg="modSp mod">
        <pc:chgData name="SAI SATHYA DHEERAJ" userId="dd0125d5f9cdda49" providerId="LiveId" clId="{114B0791-7473-435B-97F5-4E60826204FA}" dt="2025-12-03T13:03:58.891" v="209" actId="20577"/>
        <pc:sldMkLst>
          <pc:docMk/>
          <pc:sldMk cId="1445149784" sldId="264"/>
        </pc:sldMkLst>
        <pc:spChg chg="mod">
          <ac:chgData name="SAI SATHYA DHEERAJ" userId="dd0125d5f9cdda49" providerId="LiveId" clId="{114B0791-7473-435B-97F5-4E60826204FA}" dt="2025-12-03T13:03:48.776" v="203" actId="20577"/>
          <ac:spMkLst>
            <pc:docMk/>
            <pc:sldMk cId="1445149784" sldId="264"/>
            <ac:spMk id="2" creationId="{53C72A78-1C5E-E492-94F6-3F742611781F}"/>
          </ac:spMkLst>
        </pc:spChg>
        <pc:spChg chg="mod">
          <ac:chgData name="SAI SATHYA DHEERAJ" userId="dd0125d5f9cdda49" providerId="LiveId" clId="{114B0791-7473-435B-97F5-4E60826204FA}" dt="2025-12-03T13:03:58.891" v="209" actId="20577"/>
          <ac:spMkLst>
            <pc:docMk/>
            <pc:sldMk cId="1445149784" sldId="264"/>
            <ac:spMk id="8" creationId="{BB867035-9557-59BC-601B-CF3CC3B3587B}"/>
          </ac:spMkLst>
        </pc:spChg>
      </pc:sldChg>
      <pc:sldChg chg="modSp mod">
        <pc:chgData name="SAI SATHYA DHEERAJ" userId="dd0125d5f9cdda49" providerId="LiveId" clId="{114B0791-7473-435B-97F5-4E60826204FA}" dt="2025-12-03T06:47:24.561" v="32" actId="404"/>
        <pc:sldMkLst>
          <pc:docMk/>
          <pc:sldMk cId="1785079154" sldId="266"/>
        </pc:sldMkLst>
        <pc:spChg chg="mod">
          <ac:chgData name="SAI SATHYA DHEERAJ" userId="dd0125d5f9cdda49" providerId="LiveId" clId="{114B0791-7473-435B-97F5-4E60826204FA}" dt="2025-12-03T06:47:24.561" v="32" actId="404"/>
          <ac:spMkLst>
            <pc:docMk/>
            <pc:sldMk cId="1785079154" sldId="266"/>
            <ac:spMk id="2" creationId="{C02BAF3A-C72E-8A3D-A2C7-68D7DC35CE70}"/>
          </ac:spMkLst>
        </pc:spChg>
      </pc:sldChg>
      <pc:sldChg chg="modSp mod">
        <pc:chgData name="SAI SATHYA DHEERAJ" userId="dd0125d5f9cdda49" providerId="LiveId" clId="{114B0791-7473-435B-97F5-4E60826204FA}" dt="2025-12-03T06:48:19.265" v="43" actId="404"/>
        <pc:sldMkLst>
          <pc:docMk/>
          <pc:sldMk cId="2724639973" sldId="268"/>
        </pc:sldMkLst>
        <pc:spChg chg="mod">
          <ac:chgData name="SAI SATHYA DHEERAJ" userId="dd0125d5f9cdda49" providerId="LiveId" clId="{114B0791-7473-435B-97F5-4E60826204FA}" dt="2025-12-03T06:48:19.265" v="43" actId="404"/>
          <ac:spMkLst>
            <pc:docMk/>
            <pc:sldMk cId="2724639973" sldId="268"/>
            <ac:spMk id="2" creationId="{309F17C8-DF7B-1EE9-50A9-4CB4956C141C}"/>
          </ac:spMkLst>
        </pc:spChg>
      </pc:sldChg>
      <pc:sldChg chg="modSp mod">
        <pc:chgData name="SAI SATHYA DHEERAJ" userId="dd0125d5f9cdda49" providerId="LiveId" clId="{114B0791-7473-435B-97F5-4E60826204FA}" dt="2025-12-03T06:49:33.806" v="74" actId="122"/>
        <pc:sldMkLst>
          <pc:docMk/>
          <pc:sldMk cId="3575429612" sldId="271"/>
        </pc:sldMkLst>
        <pc:spChg chg="mod">
          <ac:chgData name="SAI SATHYA DHEERAJ" userId="dd0125d5f9cdda49" providerId="LiveId" clId="{114B0791-7473-435B-97F5-4E60826204FA}" dt="2025-12-03T06:49:33.806" v="74" actId="122"/>
          <ac:spMkLst>
            <pc:docMk/>
            <pc:sldMk cId="3575429612" sldId="271"/>
            <ac:spMk id="2" creationId="{BF8B6437-E637-D5E2-D4C7-1D585238AE8E}"/>
          </ac:spMkLst>
        </pc:spChg>
      </pc:sldChg>
      <pc:sldChg chg="modSp mod">
        <pc:chgData name="SAI SATHYA DHEERAJ" userId="dd0125d5f9cdda49" providerId="LiveId" clId="{114B0791-7473-435B-97F5-4E60826204FA}" dt="2025-12-03T06:50:33.971" v="81" actId="14100"/>
        <pc:sldMkLst>
          <pc:docMk/>
          <pc:sldMk cId="3376399240" sldId="274"/>
        </pc:sldMkLst>
        <pc:spChg chg="mod">
          <ac:chgData name="SAI SATHYA DHEERAJ" userId="dd0125d5f9cdda49" providerId="LiveId" clId="{114B0791-7473-435B-97F5-4E60826204FA}" dt="2025-12-03T06:50:33.971" v="81" actId="14100"/>
          <ac:spMkLst>
            <pc:docMk/>
            <pc:sldMk cId="3376399240" sldId="274"/>
            <ac:spMk id="2" creationId="{8C2ACC54-72C0-B499-BEA7-981FE94EAF38}"/>
          </ac:spMkLst>
        </pc:spChg>
      </pc:sldChg>
      <pc:sldChg chg="modSp mod">
        <pc:chgData name="SAI SATHYA DHEERAJ" userId="dd0125d5f9cdda49" providerId="LiveId" clId="{114B0791-7473-435B-97F5-4E60826204FA}" dt="2025-12-03T06:25:34.871" v="0" actId="14100"/>
        <pc:sldMkLst>
          <pc:docMk/>
          <pc:sldMk cId="23781483" sldId="277"/>
        </pc:sldMkLst>
        <pc:spChg chg="mod">
          <ac:chgData name="SAI SATHYA DHEERAJ" userId="dd0125d5f9cdda49" providerId="LiveId" clId="{114B0791-7473-435B-97F5-4E60826204FA}" dt="2025-12-03T06:25:34.871" v="0" actId="14100"/>
          <ac:spMkLst>
            <pc:docMk/>
            <pc:sldMk cId="23781483" sldId="277"/>
            <ac:spMk id="3" creationId="{D7E2D2B0-419D-B772-26E9-057FD3CAC81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9ACCB-044F-4F9D-9268-103F2C497F04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183-E9C8-4193-83BD-32FDFBF53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894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9ACCB-044F-4F9D-9268-103F2C497F04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183-E9C8-4193-83BD-32FDFBF53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196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9ACCB-044F-4F9D-9268-103F2C497F04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183-E9C8-4193-83BD-32FDFBF53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506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9ACCB-044F-4F9D-9268-103F2C497F04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183-E9C8-4193-83BD-32FDFBF53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803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9ACCB-044F-4F9D-9268-103F2C497F04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183-E9C8-4193-83BD-32FDFBF53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404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9ACCB-044F-4F9D-9268-103F2C497F04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183-E9C8-4193-83BD-32FDFBF53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651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9ACCB-044F-4F9D-9268-103F2C497F04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183-E9C8-4193-83BD-32FDFBF53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3436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9ACCB-044F-4F9D-9268-103F2C497F04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183-E9C8-4193-83BD-32FDFBF53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972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9ACCB-044F-4F9D-9268-103F2C497F04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183-E9C8-4193-83BD-32FDFBF53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64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9ACCB-044F-4F9D-9268-103F2C497F04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183-E9C8-4193-83BD-32FDFBF53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834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9ACCB-044F-4F9D-9268-103F2C497F04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183-E9C8-4193-83BD-32FDFBF53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264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9ACCB-044F-4F9D-9268-103F2C497F04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183-E9C8-4193-83BD-32FDFBF534C8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740553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9ACCB-044F-4F9D-9268-103F2C497F04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183-E9C8-4193-83BD-32FDFBF53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9762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9ACCB-044F-4F9D-9268-103F2C497F04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183-E9C8-4193-83BD-32FDFBF53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3310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9ACCB-044F-4F9D-9268-103F2C497F04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183-E9C8-4193-83BD-32FDFBF53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97427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9ACCB-044F-4F9D-9268-103F2C497F04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183-E9C8-4193-83BD-32FDFBF53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130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9ACCB-044F-4F9D-9268-103F2C497F04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6183-E9C8-4193-83BD-32FDFBF53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9439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129ACCB-044F-4F9D-9268-103F2C497F04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56183-E9C8-4193-83BD-32FDFBF53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8679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4A872-3A87-546C-C896-DFE62E756A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2406" y="1602209"/>
            <a:ext cx="8825658" cy="2168513"/>
          </a:xfrm>
        </p:spPr>
        <p:txBody>
          <a:bodyPr/>
          <a:lstStyle/>
          <a:p>
            <a:r>
              <a:rPr lang="en-IN" sz="4800" dirty="0"/>
              <a:t>Apple Social Media Analytics for Strategic Branding </a:t>
            </a:r>
            <a:br>
              <a:rPr lang="en-IN" sz="4800" dirty="0"/>
            </a:b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04F801-9CFA-0583-117D-74CA059989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1414698"/>
          </a:xfrm>
        </p:spPr>
        <p:txBody>
          <a:bodyPr/>
          <a:lstStyle/>
          <a:p>
            <a:r>
              <a:rPr lang="en-US" dirty="0"/>
              <a:t>Done BY –</a:t>
            </a:r>
          </a:p>
          <a:p>
            <a:r>
              <a:rPr lang="en-US" dirty="0"/>
              <a:t>          SAI SATHYA DHEERAJ SAVARAM</a:t>
            </a:r>
          </a:p>
          <a:p>
            <a:r>
              <a:rPr lang="en-US" dirty="0"/>
              <a:t>	    INTERNSHALA DATA SCIENCE COURSE(OCT 15</a:t>
            </a:r>
            <a:r>
              <a:rPr lang="en-US" baseline="30000" dirty="0"/>
              <a:t>th</a:t>
            </a:r>
            <a:r>
              <a:rPr lang="en-US" dirty="0"/>
              <a:t> BATCH)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7413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67A45-5262-9BFB-1610-81FFE43C1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9211B-96EC-E1E0-CEEF-084125199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dirty="0"/>
              <a:t>Task 1: Data Preprocessing &amp; Cleaning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IN" dirty="0"/>
              <a:t>Task 2: Engagement Analysis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IN" dirty="0"/>
              <a:t>Task 3: Platform Analysis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dirty="0"/>
              <a:t>Task 4: Hashtag &amp; Content Strategy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IN" dirty="0"/>
              <a:t>Task 5: Campaign Effectiveness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dirty="0"/>
              <a:t>Task 6: Follower Retention &amp; Loyalty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dirty="0"/>
              <a:t>Task 7: Summarizing Key Findings &amp; Recommendations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699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5F07A-B89D-05C1-82E3-4D7EEE26F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31" y="72352"/>
            <a:ext cx="10900770" cy="700265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en-US" sz="3600" dirty="0"/>
              <a:t>Task 1: Data Preprocessing &amp;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5F731-9970-119A-A118-A6D8F87FCD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0819" y="1124408"/>
            <a:ext cx="5051976" cy="4894263"/>
          </a:xfrm>
        </p:spPr>
        <p:txBody>
          <a:bodyPr/>
          <a:lstStyle/>
          <a:p>
            <a:pPr marL="0" indent="0" algn="ctr">
              <a:buClr>
                <a:schemeClr val="tx1"/>
              </a:buClr>
              <a:buNone/>
            </a:pPr>
            <a:r>
              <a:rPr lang="en-US" sz="2000" b="1" dirty="0"/>
              <a:t>Task 1.1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Goal:</a:t>
            </a:r>
            <a:r>
              <a:rPr lang="en-US" dirty="0"/>
              <a:t>  </a:t>
            </a:r>
            <a:r>
              <a:rPr lang="en-IN" dirty="0"/>
              <a:t>Remove </a:t>
            </a:r>
            <a:r>
              <a:rPr lang="en-IN"/>
              <a:t>duplicate Apple </a:t>
            </a:r>
            <a:r>
              <a:rPr lang="en-IN" dirty="0"/>
              <a:t>posts. </a:t>
            </a:r>
            <a:endParaRPr lang="en-US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Findings: </a:t>
            </a:r>
          </a:p>
          <a:p>
            <a:pPr lvl="1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+mn-lt"/>
              </a:rPr>
              <a:t>No duplicate posts found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A5464B-6358-3C6B-D268-9F49CFF2B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72447" y="805973"/>
            <a:ext cx="5908858" cy="48942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/>
              <a:t>Task 1.2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b="1" dirty="0"/>
              <a:t>Goal:</a:t>
            </a:r>
            <a:r>
              <a:rPr lang="en-IN" dirty="0"/>
              <a:t> Standardize date &amp; platform names. </a:t>
            </a:r>
          </a:p>
          <a:p>
            <a:pPr fontAlgn="base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b="1" dirty="0"/>
              <a:t>Findings: </a:t>
            </a:r>
          </a:p>
          <a:p>
            <a:pPr lvl="2" fontAlgn="base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altLang="en-US" dirty="0"/>
              <a:t>Platform names are already clean</a:t>
            </a:r>
            <a:r>
              <a:rPr lang="en-IN" dirty="0"/>
              <a:t>  </a:t>
            </a:r>
          </a:p>
          <a:p>
            <a:pPr lvl="2" fontAlgn="base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altLang="en-US" dirty="0"/>
              <a:t>Dates standardized using date format</a:t>
            </a:r>
          </a:p>
          <a:p>
            <a:pPr marL="0" indent="0" fontAlgn="base">
              <a:buNone/>
            </a:pPr>
            <a:r>
              <a:rPr lang="en-US" altLang="en-US" dirty="0"/>
              <a:t>                     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197989-0C9C-250D-335A-8FB6E0EAA8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3401" y="2867025"/>
            <a:ext cx="5072947" cy="356683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B2DAC2-F773-F0AE-3F9C-381134427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653" y="2867025"/>
            <a:ext cx="5215822" cy="356683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89949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61C7B4B-AD5D-454F-81B5-BA6DA5E13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96" y="2197358"/>
            <a:ext cx="4829175" cy="4581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035BAC-ECDB-C1A5-F51C-715C0F2656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43889" y="2095499"/>
            <a:ext cx="4676612" cy="45815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1AE23CC-2BBF-035E-06EA-A60E3850F15B}"/>
              </a:ext>
            </a:extLst>
          </p:cNvPr>
          <p:cNvSpPr txBox="1"/>
          <p:nvPr/>
        </p:nvSpPr>
        <p:spPr>
          <a:xfrm>
            <a:off x="660896" y="0"/>
            <a:ext cx="5233128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Task 1.3</a:t>
            </a:r>
          </a:p>
          <a:p>
            <a:pPr algn="ctr"/>
            <a:endParaRPr lang="en-US" sz="20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Goal: </a:t>
            </a:r>
            <a:r>
              <a:rPr lang="en-US" dirty="0"/>
              <a:t>Format numeric columns (Likes, Reach, Impressions, Ad Spend).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Approach: </a:t>
            </a:r>
            <a:r>
              <a:rPr lang="en-US" sz="1600" dirty="0"/>
              <a:t>Format </a:t>
            </a:r>
            <a:r>
              <a:rPr lang="en-US" altLang="en-US" sz="1600" dirty="0"/>
              <a:t>Numeric columns using number format</a:t>
            </a:r>
            <a:endParaRPr lang="en-US" sz="1600" b="1" dirty="0"/>
          </a:p>
          <a:p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F0DE69-3A0F-48DA-DA7B-5FC41E42C262}"/>
              </a:ext>
            </a:extLst>
          </p:cNvPr>
          <p:cNvSpPr txBox="1"/>
          <p:nvPr/>
        </p:nvSpPr>
        <p:spPr>
          <a:xfrm>
            <a:off x="6029325" y="0"/>
            <a:ext cx="616267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Task 1.4</a:t>
            </a:r>
          </a:p>
          <a:p>
            <a:pPr algn="ctr"/>
            <a:endParaRPr lang="en-US" sz="20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/>
              <a:t>Goal: </a:t>
            </a:r>
            <a:r>
              <a:rPr lang="en-IN" sz="1600" dirty="0"/>
              <a:t>Split hashtags (e.g., #ShotOniPhone, #iPhone16, #AppleEvent) into separate tags for analysis.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6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Approach: </a:t>
            </a:r>
            <a:r>
              <a:rPr lang="en-IN" sz="1600" dirty="0"/>
              <a:t>Split hashtags into separate tags using find and replace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9501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8337CE-8D42-635B-D388-E2DF932F4C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319"/>
          <a:stretch>
            <a:fillRect/>
          </a:stretch>
        </p:blipFill>
        <p:spPr>
          <a:xfrm>
            <a:off x="593889" y="1392503"/>
            <a:ext cx="10689996" cy="44877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D146F5-1076-5E64-382C-FF047387A910}"/>
              </a:ext>
            </a:extLst>
          </p:cNvPr>
          <p:cNvSpPr txBox="1"/>
          <p:nvPr/>
        </p:nvSpPr>
        <p:spPr>
          <a:xfrm>
            <a:off x="1171575" y="476250"/>
            <a:ext cx="6572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Cleaned Posts Data </a:t>
            </a:r>
            <a:endParaRPr lang="en-IN" sz="2400" b="1" u="sng" dirty="0"/>
          </a:p>
        </p:txBody>
      </p:sp>
    </p:spTree>
    <p:extLst>
      <p:ext uri="{BB962C8B-B14F-4D97-AF65-F5344CB8AC3E}">
        <p14:creationId xmlns:p14="http://schemas.microsoft.com/office/powerpoint/2010/main" val="1361137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AC943-E48E-D66E-85DE-237DEEEC0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195" y="-7661"/>
            <a:ext cx="9404723" cy="742138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en-IN" sz="3600" dirty="0"/>
              <a:t>Task 2: Engagement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5FBAC9-274B-16AA-0041-7EB2412D1511}"/>
              </a:ext>
            </a:extLst>
          </p:cNvPr>
          <p:cNvSpPr txBox="1"/>
          <p:nvPr/>
        </p:nvSpPr>
        <p:spPr>
          <a:xfrm>
            <a:off x="143295" y="627542"/>
            <a:ext cx="7294453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Task – 2.1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Goal: </a:t>
            </a:r>
            <a:r>
              <a:rPr lang="en-US" dirty="0"/>
              <a:t>Calculate average engagement rate per platform</a:t>
            </a:r>
          </a:p>
          <a:p>
            <a:endParaRPr lang="en-US" sz="1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Approach: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500" dirty="0"/>
              <a:t>Calculated Engagement Rate by using the given formula:</a:t>
            </a:r>
          </a:p>
          <a:p>
            <a:pPr lvl="2"/>
            <a:r>
              <a:rPr lang="en-US" sz="1500" dirty="0"/>
              <a:t>	</a:t>
            </a:r>
            <a:r>
              <a:rPr lang="en-US" sz="1500" b="1" dirty="0"/>
              <a:t>Engagement Rate = Likes+ Shares+ Comments/Impressions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500" dirty="0"/>
              <a:t>To calculate Avg. Engagement Rate</a:t>
            </a:r>
          </a:p>
          <a:p>
            <a:pPr lvl="1"/>
            <a:r>
              <a:rPr lang="en-US" sz="1500" dirty="0"/>
              <a:t>			</a:t>
            </a:r>
            <a:r>
              <a:rPr lang="en-US" sz="1500" b="1" dirty="0"/>
              <a:t>=AVERAGEIF(B:B,E3,C:C)</a:t>
            </a:r>
          </a:p>
          <a:p>
            <a:pPr lvl="1"/>
            <a:r>
              <a:rPr lang="en-US" sz="1500" dirty="0"/>
              <a:t>     	Where Column B = Platform, E3 = Twitter(Criteria),</a:t>
            </a:r>
          </a:p>
          <a:p>
            <a:pPr lvl="1"/>
            <a:r>
              <a:rPr lang="en-US" sz="1500" dirty="0"/>
              <a:t>		    Column C = Engagement Rate( average_range)</a:t>
            </a:r>
          </a:p>
          <a:p>
            <a:pPr lvl="1"/>
            <a:endParaRPr lang="en-IN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Findings:</a:t>
            </a:r>
            <a:r>
              <a:rPr lang="en-IN" dirty="0"/>
              <a:t> Twitter has the highest engagement rate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14461E-CCC5-668F-9E27-FBE418A288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742" y="3768628"/>
            <a:ext cx="5476478" cy="29483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B9D4E2-D26B-A561-EDF8-5139249768B1}"/>
              </a:ext>
            </a:extLst>
          </p:cNvPr>
          <p:cNvSpPr txBox="1"/>
          <p:nvPr/>
        </p:nvSpPr>
        <p:spPr>
          <a:xfrm>
            <a:off x="7152969" y="519093"/>
            <a:ext cx="5039031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Task - 2.2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Goal: </a:t>
            </a:r>
            <a:r>
              <a:rPr lang="en-US" dirty="0"/>
              <a:t>Identify the Top 10 Apple posts with the highest engagement. </a:t>
            </a:r>
          </a:p>
          <a:p>
            <a:endParaRPr lang="en-US" sz="11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Approach: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Sorted by Engagement Rate( Largest to Smallest)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Took Top 10 posts </a:t>
            </a:r>
            <a:r>
              <a:rPr lang="en-US" sz="1600"/>
              <a:t>with the highest </a:t>
            </a:r>
            <a:r>
              <a:rPr lang="en-US" sz="1600" dirty="0"/>
              <a:t>engagement rate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Findings: </a:t>
            </a:r>
            <a:r>
              <a:rPr lang="en-US" dirty="0"/>
              <a:t>PostID -&gt;A82 has the highest engagement rate among the top 10 posts.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algn="ctr"/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C6434EA-92A9-583B-6908-EC8AE8979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52969" y="3988472"/>
            <a:ext cx="4985874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423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72A78-1C5E-E492-94F6-3F742611781F}"/>
              </a:ext>
            </a:extLst>
          </p:cNvPr>
          <p:cNvSpPr txBox="1"/>
          <p:nvPr/>
        </p:nvSpPr>
        <p:spPr>
          <a:xfrm>
            <a:off x="275304" y="151767"/>
            <a:ext cx="5000625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Task 2.3.1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Goal: </a:t>
            </a:r>
            <a:r>
              <a:rPr lang="en-US" dirty="0"/>
              <a:t>Show Total Likes, Shares, Comments by Content Type &amp; Platform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Approach: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Used pivot table on cleaned post data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Rows -&gt; Platform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Column -&gt; Content Type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Values-&gt; Sum of Likes, Sum of Shares, Sum of comments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EB0BEB-0187-A3CE-A40F-2281205FE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54" y="4152862"/>
            <a:ext cx="7511845" cy="159223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867035-9557-59BC-601B-CF3CC3B3587B}"/>
              </a:ext>
            </a:extLst>
          </p:cNvPr>
          <p:cNvSpPr txBox="1"/>
          <p:nvPr/>
        </p:nvSpPr>
        <p:spPr>
          <a:xfrm>
            <a:off x="5815781" y="151767"/>
            <a:ext cx="6277896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Task 2.3.2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Goal: </a:t>
            </a:r>
            <a:r>
              <a:rPr lang="en-US" dirty="0"/>
              <a:t>Show Average Clicks per post by Hashtag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Approach: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Used Power Query to group to only the required columns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Loaded them as a pivot table in Excel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dirty="0"/>
              <a:t>Rows -&gt; Hashtag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dirty="0"/>
              <a:t>Values -&gt; Average Clicks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Sorted by Average Clicks ( largest to smallest) 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0AF2A2B-CA65-E13B-F942-8F78572EB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760" y="3267665"/>
            <a:ext cx="3252290" cy="336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149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BE1EED-1709-6647-1DD2-F414A23BC592}"/>
              </a:ext>
            </a:extLst>
          </p:cNvPr>
          <p:cNvSpPr txBox="1"/>
          <p:nvPr/>
        </p:nvSpPr>
        <p:spPr>
          <a:xfrm>
            <a:off x="232287" y="196030"/>
            <a:ext cx="1152525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Task - 2.4</a:t>
            </a:r>
          </a:p>
          <a:p>
            <a:pPr algn="ctr"/>
            <a:endParaRPr lang="en-US" sz="20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Goal:</a:t>
            </a:r>
            <a:r>
              <a:rPr lang="en-US" dirty="0"/>
              <a:t> Highlight top-performing hashtags such as #ShotOniPhone, #AppleEvent, #iPhone16Launch, #MacBookAir.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Approach: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Used Power Query to group to only the required columns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Loaded them as a table in Excel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Sorted by engagement rate ( largest to smallest 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Highlighted the top 5 performing hashtags by engagement rate using conditional formatting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Findings: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Top 5 performing hashtags are  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/>
              <a:t>#ShotOniPhone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/>
              <a:t>#HealthTech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/>
              <a:t>#AppleWatchUltra2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/>
              <a:t>#AppleLifestyle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/>
              <a:t>#Apple Music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93F218-9EFB-3A60-3C61-636DC0034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631" y="3085085"/>
            <a:ext cx="4689987" cy="370408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822481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BAF3A-C72E-8A3D-A2C7-68D7DC35C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85" y="128868"/>
            <a:ext cx="5872316" cy="852207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en-IN" sz="3600" dirty="0"/>
              <a:t>Task 3: Platform Analysis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1E7098-EE00-7A59-DDDA-6255E1E887E2}"/>
              </a:ext>
            </a:extLst>
          </p:cNvPr>
          <p:cNvSpPr txBox="1"/>
          <p:nvPr/>
        </p:nvSpPr>
        <p:spPr>
          <a:xfrm>
            <a:off x="324158" y="981075"/>
            <a:ext cx="603885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Task – 3.1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Goal: </a:t>
            </a:r>
            <a:r>
              <a:rPr lang="en-US" dirty="0"/>
              <a:t>Identify the platform with the highest engagement (e.g., Twitter for announcements vs. YouTube for product demos).</a:t>
            </a:r>
          </a:p>
          <a:p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Approach: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Used Pivot table on Cleaned Post Data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Rows -&gt; Platform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Column -&gt; Campaign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Values -&gt; Avg. Engagement Rate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Findings: </a:t>
            </a:r>
            <a:r>
              <a:rPr lang="en-US" dirty="0"/>
              <a:t>Twitter has the highest engagement rate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130261-21A1-BE33-6E32-EB8CA2598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84" y="4630566"/>
            <a:ext cx="7787148" cy="181767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039378-DDA0-6081-C089-457231BD8601}"/>
              </a:ext>
            </a:extLst>
          </p:cNvPr>
          <p:cNvSpPr txBox="1"/>
          <p:nvPr/>
        </p:nvSpPr>
        <p:spPr>
          <a:xfrm>
            <a:off x="6341753" y="-35492"/>
            <a:ext cx="5850247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Task – 3.2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Goal: </a:t>
            </a:r>
            <a:r>
              <a:rPr lang="en-US" dirty="0"/>
              <a:t>Compare follower growth rates across platforms.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Approach:</a:t>
            </a:r>
          </a:p>
          <a:p>
            <a:endParaRPr lang="en-US" b="1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Added a new column named as Net_followers in Engagement Summary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Calculated using formula:</a:t>
            </a:r>
          </a:p>
          <a:p>
            <a:pPr lvl="1"/>
            <a:r>
              <a:rPr lang="en-US" dirty="0"/>
              <a:t>	Net_followers = New Followers- Unfollows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Used Pivot table on Engagement Summary:     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/>
              <a:t>    Rows -&gt; Platform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/>
              <a:t>    Values -&gt; Sum of Net_followers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Findings: </a:t>
            </a:r>
            <a:r>
              <a:rPr lang="en-US" dirty="0"/>
              <a:t>Twitter has the highest follower growth</a:t>
            </a:r>
          </a:p>
          <a:p>
            <a:endParaRPr lang="en-IN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A72A7E-DD39-5485-C68D-940B833FE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2209" y="4630566"/>
            <a:ext cx="3582307" cy="18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079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70A41-CBFD-88AA-42AA-0624701566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6695768" cy="6858000"/>
          </a:xfrm>
        </p:spPr>
        <p:txBody>
          <a:bodyPr/>
          <a:lstStyle/>
          <a:p>
            <a:pPr marL="0" indent="0" algn="ctr">
              <a:buClr>
                <a:schemeClr val="tx1"/>
              </a:buClr>
              <a:buNone/>
            </a:pPr>
            <a:r>
              <a:rPr lang="en-US" sz="2000" b="1" dirty="0"/>
              <a:t>Task – 3.3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Goal: </a:t>
            </a:r>
            <a:r>
              <a:rPr lang="en-US" dirty="0"/>
              <a:t>Visualize Engagement vs. Ad Spend per platform.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Approach: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dirty="0"/>
              <a:t>Used pivot table on Engagement Summary Data: 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dirty="0"/>
              <a:t>Rows -&gt; Platform  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dirty="0"/>
              <a:t>Values -&gt; Avg.Engagement Rate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en-US" dirty="0"/>
              <a:t>                      Sum of Ad_Spend(in Lakhs)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US" b="1" dirty="0"/>
          </a:p>
          <a:p>
            <a:pPr marL="0" indent="0" algn="ctr">
              <a:buClr>
                <a:schemeClr val="tx1"/>
              </a:buClr>
              <a:buNone/>
            </a:pPr>
            <a:endParaRPr lang="en-US" b="1" dirty="0"/>
          </a:p>
          <a:p>
            <a:pPr marL="0" indent="0">
              <a:buClr>
                <a:schemeClr val="tx1"/>
              </a:buClr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67BDD-863A-6914-E651-CA6AA9288B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17110" y="-1"/>
            <a:ext cx="5574890" cy="6664325"/>
          </a:xfrm>
        </p:spPr>
        <p:txBody>
          <a:bodyPr>
            <a:normAutofit/>
          </a:bodyPr>
          <a:lstStyle/>
          <a:p>
            <a:pPr marL="0" indent="0" algn="ctr">
              <a:buClr>
                <a:schemeClr val="tx1"/>
              </a:buClr>
              <a:buNone/>
            </a:pPr>
            <a:r>
              <a:rPr lang="en-US" sz="2000" b="1" dirty="0"/>
              <a:t>Task – 3.4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Goal: </a:t>
            </a:r>
            <a:r>
              <a:rPr lang="en-US" dirty="0"/>
              <a:t>Advise Apple’s team: Should they focus on YouTube + Instagram (videos + visuals) or continue a multi-platform strategy?</a:t>
            </a:r>
            <a:endParaRPr lang="en-US" b="1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b="1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Recommendation: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dirty="0"/>
              <a:t>Focus more on </a:t>
            </a:r>
            <a:r>
              <a:rPr lang="en-US" b="1" dirty="0"/>
              <a:t>Instagram &amp; YouTube</a:t>
            </a:r>
            <a:endParaRPr lang="en-US" dirty="0"/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dirty="0"/>
              <a:t>Maintain multi-platform presence for reach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b="1" dirty="0"/>
          </a:p>
          <a:p>
            <a:pPr marL="0" indent="0">
              <a:buClr>
                <a:schemeClr val="tx1"/>
              </a:buClr>
              <a:buNone/>
            </a:pPr>
            <a:endParaRPr lang="en-US" sz="2000" b="1" dirty="0"/>
          </a:p>
          <a:p>
            <a:pPr marL="0" indent="0" algn="ctr">
              <a:buClr>
                <a:schemeClr val="tx1"/>
              </a:buClr>
              <a:buNone/>
            </a:pP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05AD58-96E9-8B60-A47E-C23B410A6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57" y="3221575"/>
            <a:ext cx="4656977" cy="34427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606F01-7F68-1150-1424-D52A9770E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169" y="3714357"/>
            <a:ext cx="4947075" cy="1870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406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F17C8-DF7B-1EE9-50A9-4CB4956C1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6" y="0"/>
            <a:ext cx="9404723" cy="852207"/>
          </a:xfrm>
        </p:spPr>
        <p:txBody>
          <a:bodyPr/>
          <a:lstStyle/>
          <a:p>
            <a:pPr algn="ctr"/>
            <a:r>
              <a:rPr lang="en-US" sz="3600" dirty="0"/>
              <a:t>Task 4: Hashtag &amp; Content Strategy</a:t>
            </a:r>
            <a:endParaRPr lang="en-IN" sz="3600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60007-419E-3645-B57B-56A6532E87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1450" y="752475"/>
            <a:ext cx="6050241" cy="5676899"/>
          </a:xfrm>
        </p:spPr>
        <p:txBody>
          <a:bodyPr>
            <a:normAutofit/>
          </a:bodyPr>
          <a:lstStyle/>
          <a:p>
            <a:pPr marL="0" indent="0" algn="ctr">
              <a:buClr>
                <a:schemeClr val="tx1"/>
              </a:buClr>
              <a:buNone/>
            </a:pPr>
            <a:r>
              <a:rPr lang="en-US" sz="2000" b="1" dirty="0"/>
              <a:t>Task – 4.1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Goal: </a:t>
            </a:r>
            <a:r>
              <a:rPr lang="en-US" dirty="0"/>
              <a:t>Identify the most frequently used Apple hashtags.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Approach: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dirty="0"/>
              <a:t>Used Power Query to get the cleaned Posts Data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dirty="0"/>
              <a:t>Inserted Pivot Table on grouped columns from Power Query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dirty="0"/>
              <a:t>Rows -&gt; Hashtag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dirty="0"/>
              <a:t>Values-&gt; Hashtag_Uses (Posts Count)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Findings:</a:t>
            </a:r>
          </a:p>
          <a:p>
            <a:pPr lvl="2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dirty="0"/>
              <a:t>Most frequently used Apple Hashtags are:</a:t>
            </a:r>
          </a:p>
          <a:p>
            <a:pPr marL="396875" lvl="2" indent="517525">
              <a:buClr>
                <a:schemeClr val="tx1"/>
              </a:buClr>
              <a:buNone/>
            </a:pPr>
            <a:r>
              <a:rPr lang="en-US" dirty="0"/>
              <a:t>#AppleEvent, #AppleWatch</a:t>
            </a:r>
            <a:r>
              <a:rPr lang="en-US"/>
              <a:t>, #</a:t>
            </a:r>
            <a:r>
              <a:rPr lang="en-US" dirty="0"/>
              <a:t>Health,#AppleLifestyle</a:t>
            </a:r>
            <a:r>
              <a:rPr lang="en-US"/>
              <a:t>, 		#</a:t>
            </a:r>
            <a:r>
              <a:rPr lang="en-US" dirty="0"/>
              <a:t>AppleMusic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b="1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b="1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920D4D-E106-1D42-4643-F5A176BC3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24864"/>
            <a:ext cx="4660490" cy="47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639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21EB0-D56F-1554-61BA-62FE4277D8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9550" y="228601"/>
            <a:ext cx="5290101" cy="627697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/>
              <a:t>Task – 4.2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Goal: </a:t>
            </a:r>
            <a:r>
              <a:rPr lang="en-US" dirty="0"/>
              <a:t>Compare the average performance of posts containing each hashtag.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Approach: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dirty="0"/>
              <a:t>Used Power Query to get the cleaned Posts Data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dirty="0"/>
              <a:t>Inserted Pivot Table on grouped columns from Power Query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dirty="0"/>
              <a:t>Rows -&gt; Hashtag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dirty="0"/>
              <a:t>Values-&gt; Average Engagement Rate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b="1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741932-A16B-BD10-4C4D-2FD7D3748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4492" y="466725"/>
            <a:ext cx="4022908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90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DBC921-DDCA-A355-4996-7C996B0C51D1}"/>
              </a:ext>
            </a:extLst>
          </p:cNvPr>
          <p:cNvSpPr txBox="1"/>
          <p:nvPr/>
        </p:nvSpPr>
        <p:spPr>
          <a:xfrm>
            <a:off x="0" y="-30953"/>
            <a:ext cx="5924549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Task – 4.3</a:t>
            </a:r>
          </a:p>
          <a:p>
            <a:pPr algn="ctr"/>
            <a:endParaRPr lang="en-US" sz="20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/>
              <a:t>Goal: </a:t>
            </a:r>
            <a:r>
              <a:rPr lang="en-US" dirty="0"/>
              <a:t>Compare content performance: </a:t>
            </a:r>
          </a:p>
          <a:p>
            <a:pPr lvl="1"/>
            <a:r>
              <a:rPr lang="en-US" dirty="0"/>
              <a:t>○ </a:t>
            </a:r>
            <a:r>
              <a:rPr lang="en-US" sz="1600" dirty="0"/>
              <a:t>Videos (launch events, ads, product demos) </a:t>
            </a:r>
          </a:p>
          <a:p>
            <a:pPr lvl="1"/>
            <a:r>
              <a:rPr lang="en-US" sz="1600" dirty="0"/>
              <a:t>○ Images (product close-ups, lifestyle shots) </a:t>
            </a:r>
          </a:p>
          <a:p>
            <a:pPr lvl="1"/>
            <a:r>
              <a:rPr lang="en-US" sz="1600" dirty="0"/>
              <a:t>○ Carousels (feature highlights, comparisons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Approach: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Used Pivot Table: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/>
              <a:t>Rows -&gt; Campaign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/>
              <a:t>Column -&gt; Content Type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dirty="0"/>
              <a:t>Values -&gt; Avg. Engagement Rate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6E6FDF-8EB0-AE52-7FB0-D120557F0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" y="4873272"/>
            <a:ext cx="6939555" cy="179914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60F671-FA0B-EAC1-FD4D-8CF8BE30BA31}"/>
              </a:ext>
            </a:extLst>
          </p:cNvPr>
          <p:cNvSpPr txBox="1"/>
          <p:nvPr/>
        </p:nvSpPr>
        <p:spPr>
          <a:xfrm>
            <a:off x="5734050" y="7147"/>
            <a:ext cx="6286499" cy="5093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Task – 4.4</a:t>
            </a:r>
          </a:p>
          <a:p>
            <a:pPr algn="ctr"/>
            <a:endParaRPr lang="en-US" sz="20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/>
              <a:t>Goal: </a:t>
            </a:r>
            <a:r>
              <a:rPr lang="en-US" sz="1600" dirty="0"/>
              <a:t>Recommend which content type performs best on each platform(e.g., videos for YouTube, product images for Instagram).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9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/>
              <a:t>Approach: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600" dirty="0"/>
              <a:t>Used Pivot Table: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600" dirty="0"/>
              <a:t>Rows -&gt; Campaign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600" dirty="0"/>
              <a:t>Column -&gt; Content Type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US" sz="1600" dirty="0"/>
              <a:t>Values -&gt; Avg. Engagement Rate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Recommendation:</a:t>
            </a:r>
          </a:p>
          <a:p>
            <a:pPr lvl="1"/>
            <a:r>
              <a:rPr lang="en-US" sz="1600" dirty="0"/>
              <a:t>Videos work best on YouTube, images on Instagram, and carousels on LinkedIn.</a:t>
            </a:r>
            <a:endParaRPr lang="en-US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2D4611-011E-31B3-781E-BE9561B5DC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30105" y="4104861"/>
            <a:ext cx="4490443" cy="259736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118680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B6437-E637-D5E2-D4C7-1D585238A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47" y="0"/>
            <a:ext cx="9404723" cy="756957"/>
          </a:xfrm>
        </p:spPr>
        <p:txBody>
          <a:bodyPr/>
          <a:lstStyle/>
          <a:p>
            <a:pPr algn="ctr">
              <a:buClr>
                <a:schemeClr val="tx1"/>
              </a:buClr>
            </a:pPr>
            <a:r>
              <a:rPr lang="en-IN" sz="3600" dirty="0"/>
              <a:t>Task 5: Campaign Effectiveness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EB294-A07F-E0C7-2AC8-BB57057821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4257" y="634795"/>
            <a:ext cx="5541516" cy="6014757"/>
          </a:xfrm>
        </p:spPr>
        <p:txBody>
          <a:bodyPr>
            <a:normAutofit/>
          </a:bodyPr>
          <a:lstStyle/>
          <a:p>
            <a:pPr marL="0" indent="0" algn="ctr">
              <a:buClr>
                <a:schemeClr val="tx1"/>
              </a:buClr>
              <a:buNone/>
            </a:pPr>
            <a:r>
              <a:rPr lang="en-US" sz="2000" b="1" dirty="0"/>
              <a:t>Task – 5.1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600" b="1" dirty="0"/>
              <a:t>Goal: </a:t>
            </a:r>
            <a:r>
              <a:rPr lang="en-US" sz="1600" dirty="0"/>
              <a:t>Calculate the Total &amp; Average Impressions, Likes, and Clicks per Campaign.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Approach: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dirty="0"/>
              <a:t>Used pivot table:</a:t>
            </a:r>
          </a:p>
          <a:p>
            <a:pPr lvl="2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dirty="0"/>
              <a:t>Rows:  Campaign</a:t>
            </a:r>
          </a:p>
          <a:p>
            <a:pPr lvl="2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dirty="0"/>
              <a:t>Values:  Total Impressions, Total Likes, Total Clicks</a:t>
            </a:r>
          </a:p>
          <a:p>
            <a:pPr marL="1828800" lvl="4" indent="0">
              <a:buClr>
                <a:schemeClr val="tx1"/>
              </a:buClr>
              <a:buNone/>
            </a:pPr>
            <a:r>
              <a:rPr lang="en-US" sz="1400" dirty="0"/>
              <a:t>Average Impressions, Average Likes, Average Clicks</a:t>
            </a:r>
          </a:p>
          <a:p>
            <a:pPr marL="1828800" lvl="4" indent="0">
              <a:buClr>
                <a:schemeClr val="tx1"/>
              </a:buClr>
              <a:buNone/>
            </a:pPr>
            <a:endParaRPr lang="en-IN" sz="1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C1ECE4-1FB5-2610-DBA0-0883D580A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7627" y="634795"/>
            <a:ext cx="6210300" cy="58962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/>
              <a:t>Task - 5.1.2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Goal: </a:t>
            </a:r>
            <a:r>
              <a:rPr lang="en-US" sz="1600" dirty="0"/>
              <a:t>Measure engagement uplift during vs. before campaigns (e.g., iPhone 16 launch spike).</a:t>
            </a:r>
            <a:endParaRPr lang="en-US" b="1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Approach: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b="1" dirty="0"/>
              <a:t> 	</a:t>
            </a:r>
            <a:r>
              <a:rPr lang="en-US" sz="1400" dirty="0"/>
              <a:t>Campaign Days = End Date – Start Date + 1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1400" dirty="0"/>
              <a:t>          Pre-Campaign Start = Start Date – Campaign Days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1400" dirty="0"/>
              <a:t>	 Pre-Campaign End = Start Date  -  1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1400" dirty="0"/>
              <a:t>	</a:t>
            </a:r>
            <a:r>
              <a:rPr lang="en-US" sz="1400" b="1" dirty="0"/>
              <a:t>Engagement During =SUMIFS(Posts!$M:$M, Posts!$L:$L, 				$A2,Posts!$C:$C, "&gt;=" &amp; $B2,Posts!$C:$C, "&lt;=" &amp; $C2)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1400" dirty="0"/>
              <a:t>         where M= Engagement, L= Campaign(Posts), A2= Campaign,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1400" dirty="0"/>
              <a:t>		C = Date(Posts),B2= Start_Date, C2 = </a:t>
            </a:r>
            <a:r>
              <a:rPr lang="en-US" sz="1400" dirty="0" err="1"/>
              <a:t>End_Date</a:t>
            </a:r>
            <a:endParaRPr lang="en-US" sz="1400" dirty="0"/>
          </a:p>
          <a:p>
            <a:pPr marL="0" indent="0">
              <a:buClr>
                <a:schemeClr val="tx1"/>
              </a:buClr>
              <a:buNone/>
            </a:pPr>
            <a:endParaRPr lang="en-US" sz="1400" dirty="0"/>
          </a:p>
          <a:p>
            <a:pPr marL="0" indent="0">
              <a:buClr>
                <a:schemeClr val="tx1"/>
              </a:buClr>
              <a:buNone/>
            </a:pPr>
            <a:r>
              <a:rPr lang="en-US" sz="1400" dirty="0"/>
              <a:t>		</a:t>
            </a:r>
          </a:p>
          <a:p>
            <a:pPr marL="0" indent="0">
              <a:buClr>
                <a:schemeClr val="tx1"/>
              </a:buClr>
              <a:buNone/>
            </a:pPr>
            <a:endParaRPr lang="en-US" sz="1400" dirty="0"/>
          </a:p>
          <a:p>
            <a:pPr marL="0" indent="0">
              <a:buClr>
                <a:schemeClr val="tx1"/>
              </a:buClr>
              <a:buNone/>
            </a:pPr>
            <a:r>
              <a:rPr lang="en-US" sz="1400" dirty="0"/>
              <a:t>		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b="1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b="1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b="1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b="1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b="1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b="1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b="1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9E4697-2176-5398-157A-3585F6616A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988" y="4183702"/>
            <a:ext cx="5541516" cy="26742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DD925A-C3E7-86CE-ADAF-E7AECF36A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228" y="4406216"/>
            <a:ext cx="5775771" cy="2451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429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0A90A-615A-B53A-4641-87FDB9C20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DD1B3C-5519-C3B6-1CCC-0655B9B9B20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0" y="0"/>
                <a:ext cx="5981700" cy="6857999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 algn="ctr">
                  <a:buClr>
                    <a:schemeClr val="tx1"/>
                  </a:buClr>
                  <a:buNone/>
                </a:pPr>
                <a:r>
                  <a:rPr lang="en-US" sz="2000" b="1" dirty="0"/>
                  <a:t>Task – 5.2.1</a:t>
                </a:r>
              </a:p>
              <a:p>
                <a:pPr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n-US" sz="1600" b="1" dirty="0"/>
                  <a:t>Goal: </a:t>
                </a:r>
                <a:r>
                  <a:rPr lang="en-US" sz="1600" dirty="0"/>
                  <a:t>Which campaign had the highest ROI (engagement vs. spend)? </a:t>
                </a:r>
              </a:p>
              <a:p>
                <a:pPr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n-US" sz="1500" b="1" dirty="0"/>
                  <a:t>Approach:</a:t>
                </a:r>
                <a:endParaRPr lang="en-IN" sz="1500" b="1" dirty="0"/>
              </a:p>
              <a:p>
                <a:pPr lvl="2">
                  <a:buClr>
                    <a:schemeClr val="tx1"/>
                  </a:buClr>
                  <a:buFont typeface="Wingdings" panose="05000000000000000000" pitchFamily="2" charset="2"/>
                  <a:buChar char="§"/>
                </a:pPr>
                <a:r>
                  <a:rPr lang="en-IN" dirty="0"/>
                  <a:t>Calculate ROI  by using this formula:</a:t>
                </a:r>
              </a:p>
              <a:p>
                <a:pPr marL="1371600" lvl="3" indent="0">
                  <a:buClr>
                    <a:schemeClr val="tx1"/>
                  </a:buClr>
                  <a:buNone/>
                </a:pPr>
                <a:r>
                  <a:rPr lang="en-US" sz="1400" dirty="0"/>
                  <a:t>R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b="0" i="0" smtClean="0">
                        <a:latin typeface="Cambria Math" panose="02040503050406030204" pitchFamily="18" charset="0"/>
                      </a:rPr>
                      <m:t>OI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1400" b="0" i="0">
                            <a:latin typeface="Cambria Math" panose="02040503050406030204" pitchFamily="18" charset="0"/>
                          </a:rPr>
                          <m:t>Engagement</m:t>
                        </m:r>
                        <m:r>
                          <a:rPr lang="en-US" sz="1400" b="0" i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400" b="0" i="0">
                            <a:latin typeface="Cambria Math" panose="02040503050406030204" pitchFamily="18" charset="0"/>
                          </a:rPr>
                          <m:t>During</m:t>
                        </m:r>
                        <m:r>
                          <a:rPr lang="en-US" sz="1400" b="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1400" b="0" i="0">
                            <a:latin typeface="Cambria Math" panose="02040503050406030204" pitchFamily="18" charset="0"/>
                          </a:rPr>
                          <m:t>Engagement</m:t>
                        </m:r>
                        <m:r>
                          <a:rPr lang="en-US" sz="1400" b="0" i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400" b="0" i="0">
                            <a:latin typeface="Cambria Math" panose="02040503050406030204" pitchFamily="18" charset="0"/>
                          </a:rPr>
                          <m:t>Before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1400" b="0" i="0">
                            <a:latin typeface="Cambria Math" panose="02040503050406030204" pitchFamily="18" charset="0"/>
                          </a:rPr>
                          <m:t>Engagement</m:t>
                        </m:r>
                        <m:r>
                          <a:rPr lang="en-US" sz="1400" b="0" i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400" b="0" i="0">
                            <a:latin typeface="Cambria Math" panose="02040503050406030204" pitchFamily="18" charset="0"/>
                          </a:rPr>
                          <m:t>Before</m:t>
                        </m:r>
                      </m:den>
                    </m:f>
                  </m:oMath>
                </a14:m>
                <a:endParaRPr lang="en-US" sz="1400" dirty="0"/>
              </a:p>
              <a:p>
                <a:pPr lvl="2">
                  <a:buClr>
                    <a:schemeClr val="tx1"/>
                  </a:buClr>
                  <a:buFont typeface="Wingdings" panose="05000000000000000000" pitchFamily="2" charset="2"/>
                  <a:buChar char="§"/>
                </a:pPr>
                <a:r>
                  <a:rPr lang="en-US" b="1" dirty="0"/>
                  <a:t>Formula: </a:t>
                </a:r>
              </a:p>
              <a:p>
                <a:pPr marL="1371600" lvl="3" indent="0">
                  <a:buClr>
                    <a:schemeClr val="tx1"/>
                  </a:buClr>
                  <a:buNone/>
                </a:pPr>
                <a:r>
                  <a:rPr lang="en-US" sz="1400" b="1" dirty="0"/>
                  <a:t>=IF(L2=0, 0, ((K2-L2)/L2))</a:t>
                </a:r>
              </a:p>
              <a:p>
                <a:pPr marL="1371600" lvl="3" indent="0">
                  <a:buClr>
                    <a:schemeClr val="tx1"/>
                  </a:buClr>
                  <a:buNone/>
                </a:pPr>
                <a:r>
                  <a:rPr lang="en-US" sz="1400" dirty="0"/>
                  <a:t>Where L2 = Engagement Before				   	   K2 = Engagement During</a:t>
                </a:r>
              </a:p>
              <a:p>
                <a:pPr lvl="2">
                  <a:buClr>
                    <a:schemeClr val="tx1"/>
                  </a:buClr>
                  <a:buFont typeface="Wingdings" panose="05000000000000000000" pitchFamily="2" charset="2"/>
                  <a:buChar char="§"/>
                </a:pPr>
                <a:r>
                  <a:rPr lang="en-US" dirty="0"/>
                  <a:t>Sort by Largest to Smallest </a:t>
                </a:r>
              </a:p>
              <a:p>
                <a:pPr>
                  <a:buClr>
                    <a:schemeClr val="tx1"/>
                  </a:buClr>
                  <a:buFont typeface="Wingdings" panose="05000000000000000000" pitchFamily="2" charset="2"/>
                  <a:buChar char="Ø"/>
                </a:pPr>
                <a:r>
                  <a:rPr lang="en-US" sz="1600" b="1" dirty="0"/>
                  <a:t>Findings:</a:t>
                </a:r>
              </a:p>
              <a:p>
                <a:pPr lvl="1">
                  <a:buClr>
                    <a:schemeClr val="tx1"/>
                  </a:buClr>
                  <a:buFont typeface="Courier New" panose="02070309020205020404" pitchFamily="49" charset="0"/>
                  <a:buChar char="o"/>
                </a:pPr>
                <a:r>
                  <a:rPr lang="en-US" sz="1400" dirty="0"/>
                  <a:t>Apple Event September 2025 campaign has highest ROI with 11.02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DD1B3C-5519-C3B6-1CCC-0655B9B9B2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0" y="0"/>
                <a:ext cx="5981700" cy="6857999"/>
              </a:xfrm>
              <a:blipFill>
                <a:blip r:embed="rId2"/>
                <a:stretch>
                  <a:fillRect t="-889" r="-4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D2DE09-A11F-45A0-A10F-41C66077D2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81700" y="1"/>
            <a:ext cx="6210300" cy="680638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000" b="1" dirty="0"/>
              <a:t>Task - 5.2.2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Goal: </a:t>
            </a:r>
            <a:r>
              <a:rPr lang="en-US" sz="1600" dirty="0"/>
              <a:t>Which campaign drove the strongest follower growth?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600" b="1" dirty="0"/>
              <a:t>Approach: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400" dirty="0"/>
              <a:t>In the engagement Summary, calculate Net_ follower gain by:   			</a:t>
            </a:r>
            <a:r>
              <a:rPr lang="en-US" sz="1400" b="1" dirty="0"/>
              <a:t>Net follower gain = New followers – Unfollows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400" b="1" dirty="0"/>
              <a:t>Formula: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1400" dirty="0"/>
              <a:t>		</a:t>
            </a:r>
            <a:r>
              <a:rPr lang="en-US" sz="1400" b="1" dirty="0"/>
              <a:t>=SUMIFS('Engagement Summary'!E:E,'Engagement Summary'!A:A, "&gt;=" &amp; $B2, 'Engagement Summary'!A:A, "&lt;=" &amp; $C2 )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1400" dirty="0"/>
              <a:t>	Where Column E = Net_follower_gain (Engagement Summary)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1400" dirty="0"/>
              <a:t>		   Column A = Weekly Start Date(Engagement Summary)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1400" dirty="0"/>
              <a:t>		    B2 = Start Date, C2 = End Date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400" dirty="0"/>
              <a:t>Sort by Largest to Smallest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600" b="1" dirty="0"/>
              <a:t>Findings: </a:t>
            </a:r>
          </a:p>
          <a:p>
            <a:pPr lvl="1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300" dirty="0"/>
              <a:t> Sustainability Awareness Campaign has the strongest follower growth  with 107,259</a:t>
            </a:r>
          </a:p>
          <a:p>
            <a:pPr marL="0" indent="0">
              <a:buClr>
                <a:schemeClr val="tx1"/>
              </a:buClr>
              <a:buNone/>
            </a:pPr>
            <a:endParaRPr lang="en-US" sz="1400" dirty="0"/>
          </a:p>
          <a:p>
            <a:pPr marL="0" indent="0">
              <a:buClr>
                <a:schemeClr val="tx1"/>
              </a:buClr>
              <a:buNone/>
            </a:pPr>
            <a:endParaRPr lang="en-US" sz="1400" dirty="0"/>
          </a:p>
          <a:p>
            <a:pPr marL="0" indent="0">
              <a:buClr>
                <a:schemeClr val="tx1"/>
              </a:buClr>
              <a:buNone/>
            </a:pPr>
            <a:r>
              <a:rPr lang="en-US" sz="1400" dirty="0"/>
              <a:t>          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1400" dirty="0"/>
              <a:t>         </a:t>
            </a:r>
          </a:p>
          <a:p>
            <a:pPr marL="0" indent="0">
              <a:buClr>
                <a:schemeClr val="tx1"/>
              </a:buClr>
              <a:buNone/>
            </a:pPr>
            <a:endParaRPr lang="en-US" sz="1400" dirty="0"/>
          </a:p>
          <a:p>
            <a:pPr marL="0" indent="0">
              <a:buClr>
                <a:schemeClr val="tx1"/>
              </a:buClr>
              <a:buNone/>
            </a:pPr>
            <a:r>
              <a:rPr lang="en-US" sz="1400" dirty="0"/>
              <a:t>		</a:t>
            </a:r>
          </a:p>
          <a:p>
            <a:pPr marL="0" indent="0">
              <a:buClr>
                <a:schemeClr val="tx1"/>
              </a:buClr>
              <a:buNone/>
            </a:pPr>
            <a:endParaRPr lang="en-US" sz="1400" dirty="0"/>
          </a:p>
          <a:p>
            <a:pPr marL="0" indent="0">
              <a:buClr>
                <a:schemeClr val="tx1"/>
              </a:buClr>
              <a:buNone/>
            </a:pPr>
            <a:r>
              <a:rPr lang="en-US" sz="1400" dirty="0"/>
              <a:t>		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b="1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b="1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b="1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b="1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b="1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b="1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b="1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6BE0CA-3E85-BAB2-D6C4-AF62D363B8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493342"/>
            <a:ext cx="5981699" cy="236465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93A0BD-AA34-42D7-46B1-B8F343124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493341"/>
            <a:ext cx="6096000" cy="236465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5816345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ACC54-72C0-B499-BEA7-981FE94EA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33618"/>
            <a:ext cx="10364396" cy="766482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en-US" sz="3600" dirty="0"/>
              <a:t>Task 6: Follower Retention &amp; Loyalty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08494-CBD3-19B6-07C2-9FDA088224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800100"/>
            <a:ext cx="5905500" cy="583378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/>
              <a:t>Task – 6.1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Goal: </a:t>
            </a:r>
            <a:r>
              <a:rPr lang="en-US" dirty="0"/>
              <a:t>Visualize weekly follower growth per platform (line chart).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Approach: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dirty="0"/>
              <a:t>Used Engagement Summary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dirty="0"/>
              <a:t>Insert Pivot Table:</a:t>
            </a:r>
          </a:p>
          <a:p>
            <a:pPr lvl="3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 dirty="0"/>
              <a:t>Rows: Weekly Start Date</a:t>
            </a:r>
          </a:p>
          <a:p>
            <a:pPr lvl="3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 dirty="0"/>
              <a:t>Columns: Platforms</a:t>
            </a:r>
          </a:p>
          <a:p>
            <a:pPr lvl="3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 dirty="0"/>
              <a:t>Values: Net_followers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7173D8-EC54-C013-6D69-0DA2D1700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799" y="1658760"/>
            <a:ext cx="7125878" cy="3860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399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097EC-795E-CF5D-72AA-92A338892A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" y="0"/>
            <a:ext cx="5471076" cy="701992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/>
              <a:t>Task – 6.2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Goal: </a:t>
            </a:r>
            <a:r>
              <a:rPr lang="en-US" dirty="0"/>
              <a:t>Identify the peak week of follower gain.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Approach: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dirty="0"/>
              <a:t>Used Engagement Summary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dirty="0"/>
              <a:t>Insert Pivot Table:</a:t>
            </a:r>
          </a:p>
          <a:p>
            <a:pPr lvl="3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 dirty="0"/>
              <a:t>Rows: Weekly Start Date</a:t>
            </a:r>
          </a:p>
          <a:p>
            <a:pPr lvl="3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 dirty="0"/>
              <a:t>Columns: Platforms</a:t>
            </a:r>
          </a:p>
          <a:p>
            <a:pPr lvl="3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 dirty="0"/>
              <a:t>Values: Net_followers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dirty="0"/>
              <a:t>Sort by Largest to Smallest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Findings:</a:t>
            </a:r>
          </a:p>
          <a:p>
            <a:pPr lvl="1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IN" dirty="0"/>
              <a:t>2024-07-22 is the peak week of follower gain</a:t>
            </a:r>
            <a:endParaRPr lang="en-US" b="1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6C4242-33AA-025A-6DBF-388A9228F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077" y="1435511"/>
            <a:ext cx="6389251" cy="3500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3846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B7B81-110F-AE15-CD95-B57FA65E9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0AA06-A6B1-48C9-E8D3-0A3A7BE95E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" y="0"/>
            <a:ext cx="5471076" cy="701992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/>
              <a:t>Task – 6.3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Goal: </a:t>
            </a:r>
            <a:r>
              <a:rPr lang="en-US" dirty="0"/>
              <a:t>Use moving averages to smooth growth trends.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Approach: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dirty="0"/>
              <a:t>Used Engagement Summary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dirty="0"/>
              <a:t>Insert Pivot Table:</a:t>
            </a:r>
          </a:p>
          <a:p>
            <a:pPr lvl="3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 dirty="0"/>
              <a:t>Rows: Weekly Start Date</a:t>
            </a:r>
          </a:p>
          <a:p>
            <a:pPr lvl="3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 dirty="0"/>
              <a:t>Columns: Platforms</a:t>
            </a:r>
          </a:p>
          <a:p>
            <a:pPr lvl="3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1400" dirty="0"/>
              <a:t>Values: Net_followers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Findings:</a:t>
            </a:r>
          </a:p>
          <a:p>
            <a:pPr lvl="1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dirty="0"/>
              <a:t>Using a 3-week moving average smooths out short-term spikes and shows the underlying follower-growth trend more clearly.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90C814-4E1E-39A8-137C-A83BC508F8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71076" y="1771651"/>
            <a:ext cx="6644724" cy="3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0779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49EDE-44D0-D1BD-7E77-6E829C795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2D2B0-419D-B772-26E9-057FD3CAC8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11717518" cy="701992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/>
              <a:t>Task – 6.4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Goal: </a:t>
            </a:r>
            <a:r>
              <a:rPr lang="en-US" dirty="0"/>
              <a:t>Correlate ad spend vs. follower growth using scatter plots.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Approach: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dirty="0"/>
              <a:t>Removed Duplicates from the platform column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dirty="0"/>
              <a:t>Calculate total Net_followers by using this formula:</a:t>
            </a:r>
          </a:p>
          <a:p>
            <a:pPr marL="1371600" lvl="3" indent="0">
              <a:buClr>
                <a:schemeClr val="tx1"/>
              </a:buClr>
              <a:buNone/>
            </a:pPr>
            <a:r>
              <a:rPr lang="en-US" dirty="0"/>
              <a:t>		</a:t>
            </a:r>
            <a:r>
              <a:rPr lang="en-US" sz="1400" b="1" dirty="0"/>
              <a:t>=SUMIF(A:A,F3,B:B)</a:t>
            </a:r>
          </a:p>
          <a:p>
            <a:pPr marL="1371600" lvl="3" indent="0">
              <a:buClr>
                <a:schemeClr val="tx1"/>
              </a:buClr>
              <a:buNone/>
            </a:pPr>
            <a:r>
              <a:rPr lang="en-US" sz="1400" dirty="0"/>
              <a:t>Where,  Column A = Platform</a:t>
            </a:r>
          </a:p>
          <a:p>
            <a:pPr marL="1371600" lvl="3" indent="0">
              <a:buClr>
                <a:schemeClr val="tx1"/>
              </a:buClr>
              <a:buNone/>
            </a:pPr>
            <a:r>
              <a:rPr lang="en-US" sz="1400" dirty="0"/>
              <a:t>	     F3 = Instagram(Criteria)</a:t>
            </a:r>
          </a:p>
          <a:p>
            <a:pPr marL="1371600" lvl="3" indent="0">
              <a:buClr>
                <a:schemeClr val="tx1"/>
              </a:buClr>
              <a:buNone/>
            </a:pPr>
            <a:r>
              <a:rPr lang="en-US" sz="1400" dirty="0"/>
              <a:t>	    Column B = Net_followers(Sum Range)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dirty="0"/>
              <a:t>Similarly, calculate total Ad_Spend by using this formula:</a:t>
            </a:r>
          </a:p>
          <a:p>
            <a:pPr marL="1828800" lvl="4" indent="0">
              <a:buClr>
                <a:schemeClr val="tx1"/>
              </a:buClr>
              <a:buNone/>
            </a:pPr>
            <a:r>
              <a:rPr lang="en-US" sz="1400" dirty="0"/>
              <a:t>	</a:t>
            </a:r>
            <a:r>
              <a:rPr lang="en-US" sz="1400" b="1" dirty="0"/>
              <a:t>=SUMIF(A:A,F3,C:C)</a:t>
            </a:r>
          </a:p>
          <a:p>
            <a:pPr marL="1828800" lvl="4" indent="0">
              <a:buClr>
                <a:schemeClr val="tx1"/>
              </a:buClr>
              <a:buNone/>
            </a:pPr>
            <a:r>
              <a:rPr lang="en-US" sz="1400" dirty="0"/>
              <a:t>Where , Column C = Ad_Spend( Sum Range)</a:t>
            </a:r>
          </a:p>
          <a:p>
            <a:pPr lvl="2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/>
              <a:t>Here,       Series 1: Platform Name, Net_followers</a:t>
            </a:r>
          </a:p>
          <a:p>
            <a:pPr marL="914400" lvl="2" indent="0">
              <a:buClr>
                <a:schemeClr val="tx1"/>
              </a:buClr>
              <a:buNone/>
            </a:pPr>
            <a:r>
              <a:rPr lang="en-US" sz="1600" dirty="0"/>
              <a:t>		    Series 2: Platform Name, Ad_Spend Value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Findings:</a:t>
            </a:r>
          </a:p>
          <a:p>
            <a:pPr lvl="1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dirty="0"/>
              <a:t>Twitter generated the highest total follower growth despite having lower ad spend than Instagram and LinkedIn, showing it is the most cost-efficient platform.</a:t>
            </a:r>
            <a:endParaRPr lang="en-US" b="1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708972-47FE-556B-F442-290A2AF22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97105" y="1489435"/>
            <a:ext cx="5894895" cy="3414711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BC117A4E-9967-9D0A-8A9C-06108CF42BCB}"/>
              </a:ext>
            </a:extLst>
          </p:cNvPr>
          <p:cNvSpPr/>
          <p:nvPr/>
        </p:nvSpPr>
        <p:spPr>
          <a:xfrm>
            <a:off x="1923068" y="4798242"/>
            <a:ext cx="169682" cy="13197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9ED2DD1-C99E-7C1E-45BB-EE38E0F8EA2E}"/>
              </a:ext>
            </a:extLst>
          </p:cNvPr>
          <p:cNvSpPr/>
          <p:nvPr/>
        </p:nvSpPr>
        <p:spPr>
          <a:xfrm>
            <a:off x="1923068" y="4402316"/>
            <a:ext cx="169682" cy="131975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14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D7271-F869-B8A8-82B9-3400B3B86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666" y="42444"/>
            <a:ext cx="11118541" cy="693052"/>
          </a:xfrm>
        </p:spPr>
        <p:txBody>
          <a:bodyPr/>
          <a:lstStyle/>
          <a:p>
            <a:r>
              <a:rPr lang="en-US" sz="3600" u="sng" dirty="0"/>
              <a:t>Summarizing Key Findings &amp; Recommendations</a:t>
            </a:r>
            <a:endParaRPr lang="en-IN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E6E5E-8F91-497C-119D-063CEF289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785191"/>
            <a:ext cx="12056165" cy="5821974"/>
          </a:xfrm>
        </p:spPr>
        <p:txBody>
          <a:bodyPr numCol="1">
            <a:normAutofit/>
          </a:bodyPr>
          <a:lstStyle/>
          <a:p>
            <a:pPr marL="0" indent="0" algn="ctr">
              <a:buNone/>
            </a:pPr>
            <a:r>
              <a:rPr lang="en-US" sz="2000" b="1" u="sng" dirty="0"/>
              <a:t>Key Findings</a:t>
            </a:r>
          </a:p>
          <a:p>
            <a:pPr marL="0" indent="0">
              <a:buNone/>
            </a:pPr>
            <a:endParaRPr lang="en-US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600" b="1" dirty="0">
                <a:latin typeface="+mn-lt"/>
              </a:rPr>
              <a:t>Instagram and YouTube delivered the strongest engagement, </a:t>
            </a:r>
            <a:r>
              <a:rPr lang="en-US" altLang="en-US" sz="1600" dirty="0">
                <a:latin typeface="+mn-lt"/>
              </a:rPr>
              <a:t>especially for visuals and video content.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sz="1600" b="1" dirty="0">
              <a:latin typeface="+mn-l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600" b="1" dirty="0">
                <a:latin typeface="+mn-lt"/>
              </a:rPr>
              <a:t>Twitter showed the highest follower growth, </a:t>
            </a:r>
            <a:r>
              <a:rPr lang="en-US" altLang="en-US" sz="1600" dirty="0">
                <a:latin typeface="+mn-lt"/>
              </a:rPr>
              <a:t>even with relatively lower ad spend.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sz="1600" b="1" dirty="0">
              <a:latin typeface="+mn-l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600" b="1" dirty="0">
                <a:latin typeface="+mn-lt"/>
              </a:rPr>
              <a:t>Launch campaigns like iPhone 16 </a:t>
            </a:r>
            <a:r>
              <a:rPr lang="en-US" altLang="en-US" sz="1600" dirty="0">
                <a:latin typeface="+mn-lt"/>
              </a:rPr>
              <a:t>caused clear engagement spikes.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sz="1600" b="1" dirty="0">
              <a:latin typeface="+mn-lt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600" b="1" dirty="0">
                <a:latin typeface="+mn-lt"/>
              </a:rPr>
              <a:t>Top 5 hashtags (#ShotOniPhone, #HealthTech, #AppleWatchUltra2, #AppleLifestyle, #AppleMusic) </a:t>
            </a:r>
            <a:r>
              <a:rPr lang="en-US" altLang="en-US" sz="1600" dirty="0">
                <a:latin typeface="Arial" panose="020B0604020202020204" pitchFamily="34" charset="0"/>
              </a:rPr>
              <a:t>consistently boosted post performance.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sz="1600" b="1" dirty="0">
              <a:latin typeface="+mn-l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600" b="1" dirty="0">
                <a:latin typeface="+mn-lt"/>
              </a:rPr>
              <a:t> The 3-week moving average </a:t>
            </a:r>
            <a:r>
              <a:rPr lang="en-US" altLang="en-US" sz="1600" dirty="0">
                <a:latin typeface="+mn-lt"/>
              </a:rPr>
              <a:t>showed a stable upward trend in follower growth.</a:t>
            </a:r>
          </a:p>
          <a:p>
            <a:pPr marL="0" indent="0">
              <a:buNone/>
            </a:pPr>
            <a:endParaRPr lang="en-IN" sz="1600" b="1" dirty="0"/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A20B4186-0B0B-B7EF-A67F-798E7B4BE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8">
            <a:extLst>
              <a:ext uri="{FF2B5EF4-FFF2-40B4-BE49-F238E27FC236}">
                <a16:creationId xmlns:a16="http://schemas.microsoft.com/office/drawing/2014/main" id="{128CAECE-E409-32B6-3FE1-09F0582BA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3251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1D475-79BD-E511-137C-A1E0DF36F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B6A6B-CDE9-AD6F-AD10-484FC8F0C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729" y="42444"/>
            <a:ext cx="10933028" cy="693052"/>
          </a:xfrm>
        </p:spPr>
        <p:txBody>
          <a:bodyPr/>
          <a:lstStyle/>
          <a:p>
            <a:r>
              <a:rPr lang="en-US" sz="3600" u="sng" dirty="0"/>
              <a:t>Summarizing Key Findings &amp; Recommendations</a:t>
            </a:r>
            <a:endParaRPr lang="en-IN" u="sng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A7670D2-72D6-2EE5-CB35-355CDD2FD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7626" y="969065"/>
            <a:ext cx="11340532" cy="5198165"/>
          </a:xfrm>
        </p:spPr>
        <p:txBody>
          <a:bodyPr/>
          <a:lstStyle/>
          <a:p>
            <a:pPr marL="0" indent="0" algn="ctr">
              <a:buNone/>
            </a:pPr>
            <a:r>
              <a:rPr lang="en-US" sz="2000" b="1" u="sng" dirty="0"/>
              <a:t>Recommendations</a:t>
            </a:r>
            <a:endParaRPr lang="en-US" sz="2000" b="1" dirty="0"/>
          </a:p>
          <a:p>
            <a:endParaRPr lang="en-IN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600" b="1" dirty="0">
                <a:latin typeface="+mn-lt"/>
              </a:rPr>
              <a:t>Focus more on Instagram and YouTube</a:t>
            </a:r>
            <a:r>
              <a:rPr lang="en-US" altLang="en-US" sz="1600" dirty="0">
                <a:latin typeface="+mn-lt"/>
              </a:rPr>
              <a:t>, since visual content performs best there.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sz="1600" b="1" dirty="0">
              <a:latin typeface="+mn-l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600" b="1" dirty="0">
                <a:latin typeface="+mn-lt"/>
              </a:rPr>
              <a:t>Use event-based and launch content</a:t>
            </a:r>
            <a:r>
              <a:rPr lang="en-US" altLang="en-US" sz="1600" dirty="0">
                <a:latin typeface="+mn-lt"/>
              </a:rPr>
              <a:t> to capture strong engagement peaks.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sz="1600" b="1" dirty="0">
              <a:latin typeface="+mn-l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600" b="1" dirty="0">
                <a:latin typeface="+mn-lt"/>
              </a:rPr>
              <a:t>Continue using high-performing hashtags</a:t>
            </a:r>
            <a:r>
              <a:rPr lang="en-US" altLang="en-US" sz="1600" dirty="0">
                <a:latin typeface="+mn-lt"/>
              </a:rPr>
              <a:t> for better reach and visibility.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sz="1600" b="1" dirty="0">
              <a:latin typeface="+mn-l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600" b="1" dirty="0">
                <a:latin typeface="+mn-lt"/>
              </a:rPr>
              <a:t>Spend ad budget wisely</a:t>
            </a:r>
            <a:r>
              <a:rPr lang="en-US" altLang="en-US" sz="1600" dirty="0">
                <a:latin typeface="+mn-lt"/>
              </a:rPr>
              <a:t>, increasing spend on platforms that convert to follower growth (e.g., Instagram, Twitter).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600" dirty="0">
              <a:latin typeface="+mn-l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600" b="1" dirty="0">
                <a:latin typeface="+mn-lt"/>
              </a:rPr>
              <a:t>Track long-term trends with moving averages</a:t>
            </a:r>
            <a:r>
              <a:rPr lang="en-US" altLang="en-US" sz="1600" dirty="0">
                <a:latin typeface="+mn-lt"/>
              </a:rPr>
              <a:t> to avoid weekly noise.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B5E6005C-DC5E-6D2B-3842-90F94533D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8">
            <a:extLst>
              <a:ext uri="{FF2B5EF4-FFF2-40B4-BE49-F238E27FC236}">
                <a16:creationId xmlns:a16="http://schemas.microsoft.com/office/drawing/2014/main" id="{19F24487-1F42-6971-21F7-246EFC4B2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294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9A9DB18-F0AB-1A09-04E3-C90486B10B42}"/>
              </a:ext>
            </a:extLst>
          </p:cNvPr>
          <p:cNvSpPr/>
          <p:nvPr/>
        </p:nvSpPr>
        <p:spPr>
          <a:xfrm>
            <a:off x="4132489" y="2505670"/>
            <a:ext cx="424507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THANK YOU!</a:t>
            </a:r>
            <a:endParaRPr lang="en-IN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5875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5223</TotalTime>
  <Words>1832</Words>
  <Application>Microsoft Office PowerPoint</Application>
  <PresentationFormat>Widescreen</PresentationFormat>
  <Paragraphs>325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Cambria Math</vt:lpstr>
      <vt:lpstr>Century Gothic</vt:lpstr>
      <vt:lpstr>Courier New</vt:lpstr>
      <vt:lpstr>Wingdings</vt:lpstr>
      <vt:lpstr>Wingdings 3</vt:lpstr>
      <vt:lpstr>Ion</vt:lpstr>
      <vt:lpstr>Apple Social Media Analytics for Strategic Branding  </vt:lpstr>
      <vt:lpstr>Contents </vt:lpstr>
      <vt:lpstr>Task 1: Data Preprocessing &amp; Cleaning</vt:lpstr>
      <vt:lpstr>PowerPoint Presentation</vt:lpstr>
      <vt:lpstr>PowerPoint Presentation</vt:lpstr>
      <vt:lpstr>Task 2: Engagement Analysis</vt:lpstr>
      <vt:lpstr>PowerPoint Presentation</vt:lpstr>
      <vt:lpstr>PowerPoint Presentation</vt:lpstr>
      <vt:lpstr>Task 3: Platform Analysis </vt:lpstr>
      <vt:lpstr>PowerPoint Presentation</vt:lpstr>
      <vt:lpstr>Task 4: Hashtag &amp; Content Strategy</vt:lpstr>
      <vt:lpstr>PowerPoint Presentation</vt:lpstr>
      <vt:lpstr>PowerPoint Presentation</vt:lpstr>
      <vt:lpstr>Task 5: Campaign Effectiveness </vt:lpstr>
      <vt:lpstr>PowerPoint Presentation</vt:lpstr>
      <vt:lpstr>Task 6: Follower Retention &amp; Loyalty </vt:lpstr>
      <vt:lpstr>PowerPoint Presentation</vt:lpstr>
      <vt:lpstr>PowerPoint Presentation</vt:lpstr>
      <vt:lpstr>PowerPoint Presentation</vt:lpstr>
      <vt:lpstr>Summarizing Key Findings &amp; Recommendations</vt:lpstr>
      <vt:lpstr>Summarizing Key Findings &amp; 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SATHYA DHEERAJ</dc:creator>
  <cp:lastModifiedBy>SAI SATHYA DHEERAJ</cp:lastModifiedBy>
  <cp:revision>32</cp:revision>
  <dcterms:created xsi:type="dcterms:W3CDTF">2025-11-26T09:33:17Z</dcterms:created>
  <dcterms:modified xsi:type="dcterms:W3CDTF">2025-12-04T10:21:18Z</dcterms:modified>
</cp:coreProperties>
</file>